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390D779-1CDA-C12A-D796-A60E05AF58E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53181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645920"/>
            <a:ext cx="121889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9B4FA"/>
                </a:solidFill>
              </a:rPr>
              <a:t>DriveLab — Spurhalten mit Reinforcement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Entwicklung eines PPO-Agenten für autonomes Fahrspurhalten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Bachelorarbeit Vorbereitung  | 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6E3A1"/>
                </a:solidFill>
              </a:rPr>
              <a:t>Sulaiman Abusaleh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Projektziel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soll der Agent lernen?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459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Ein KI-Agent soll ein Fahrzeug automatisch in der Fahrspurmitte halten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E2AF"/>
                </a:solidFill>
              </a:rPr>
              <a:t>auf verschiedenen Straßen, ohne menschliche Steuerung.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303520" cy="320040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✓  Ziele: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Fahrzeug bleibt in der Spur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Querversatz (e_y) minimieren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Kurswinkel (e_psi) minimieren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Kurven sicher durchfahren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4 verschiedene Strecken meistern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017520"/>
            <a:ext cx="5760720" cy="320040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⚙  Technologien: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Reinforcement Learning (PPO)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C++ Simulation (DriveLab)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Python 3.12 + 3.13 Architektur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Stabile Baselines 3 (SB3)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Gymnasium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System-Architektur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Zwei-Prozess-Bridge (Python 3.12 ↔ Python 3.13)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554480"/>
            <a:ext cx="5029200" cy="4389120"/>
          </a:xfrm>
          <a:prstGeom prst="rect">
            <a:avLst/>
          </a:prstGeom>
          <a:solidFill>
            <a:srgbClr val="1A2F1A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E3A1"/>
                </a:solidFill>
              </a:rPr>
              <a:t>  Python 3.12 (py312)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A6E3A1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train.py / eval.py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drivelab_env.py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gymnasium.Env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Stable-Baselines3 (PPO)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VecNormalize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Plotter / TensorBoard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0" y="32004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E2AF"/>
                </a:solidFill>
              </a:rPr>
              <a:t>JSON
←→
stdin/stdout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5029200" cy="4389120"/>
          </a:xfrm>
          <a:prstGeom prst="rect">
            <a:avLst/>
          </a:prstGeom>
          <a:solidFill>
            <a:srgbClr val="1A1A2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Python 3.13 (base)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89B4F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drivelab_server.py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drivelab.cp313-win_amd64.pyd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C++ Fahrzeugdynamik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Straßendefinitionen (JSON)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Physik-Simulation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track.csv Ausgabe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576072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Grund: drivelab.pyd wurde nur für Python 3.13 kompiliert — SB3/Gymnasium benötigt Python 3.12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Observation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sieht der Agent?  →  8 Werte pro Zeitschritt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554480"/>
            <a:ext cx="11430000" cy="530352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e_y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00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Querversatz zur Fahrbahnmitte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−5.0 … +5.0 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67128"/>
            <a:ext cx="11430000" cy="530352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e_psi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2128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Kurswinkel-Fehler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128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−1.5 … +1.5 rad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79776"/>
            <a:ext cx="11430000" cy="530352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254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curvature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82549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Straßenkrümmung voraus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−0.2 … +0.2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92424"/>
            <a:ext cx="11430000" cy="530352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438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distLeft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38144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Abstand zum linken 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381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0 … 10 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11430000" cy="530352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05079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6E3A1"/>
                </a:solidFill>
              </a:rPr>
              <a:t>distRight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050791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Abstand zum rechten Rand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5079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0 … 10 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17720"/>
            <a:ext cx="11430000" cy="530352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laneWidth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Spurbreite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0 … 10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30368"/>
            <a:ext cx="11430000" cy="530352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2760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E2AF"/>
                </a:solidFill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27608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Fahrzeuggeschwindigkeit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760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0 … 50 m/s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43016"/>
            <a:ext cx="11430000" cy="530352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588873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8BA8"/>
                </a:solidFill>
              </a:rPr>
              <a:t>psidot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888736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Gierrate (Drehgeschwindigkeit)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8887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−5 … +5 rad/s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Action Space &amp; Reward-Funktion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tut der Agent und wie wird er bewertet?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554480"/>
            <a:ext cx="5303520" cy="228600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Action Space (1D, kontinuierlich)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89B4F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1 Wert:  Lenkwinkel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Bereich:  −0.5 … +0.5 rad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Gas:  fix 0.0 (konstant)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Bremse:  fix 0.0 (konstant)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2560320"/>
          </a:xfrm>
          <a:prstGeom prst="rect">
            <a:avLst/>
          </a:prstGeom>
          <a:solidFill>
            <a:srgbClr val="2F2F1A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  Geplante Erweiterung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F9E2A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Zukünftig: 3D Action Space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[Lenkwinkel, Gas, Bremse]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Erweiterung für Bachelorarbeit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0" y="1554480"/>
            <a:ext cx="5852160" cy="228600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Reward-Funktion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89B4F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r = +1.0  (pro Schritt)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− 2.0 × e_y²  (Querversatz-Strafe)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− 0.5 × e_psi²  (Winkel-Strafe)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= −10.0  (bei Crash / offRoad)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0" y="3931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9B4FA"/>
                </a:solidFill>
              </a:rPr>
              <a:t>Interpretation: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3434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6E3A1"/>
                </a:solidFill>
              </a:rPr>
              <a:t>  ●  Perfektes Spurhalten  →  ~+1.0 / Schritt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7091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9E2AF"/>
                </a:solidFill>
              </a:rPr>
              <a:t>  ●  Spurversatz 1m  →  +1 − 2(1²) = −1.0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5074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38BA8"/>
                </a:solidFill>
              </a:rPr>
              <a:t>  ●  Straßenverlassen  →  −10.0 (Episode Ende)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PPO Hyperparameter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Proximal Policy Optimization — Konfiguration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learning_rate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3 × 10⁻⁴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544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Lerngeschwindigkeit des neuronalen Netzes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n_steps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5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2048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0574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Schritte pro Umgebung vor jedem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batch_size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5603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Mini-Batch-Größe beim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n_epochs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0632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Wiederholungen pro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gamma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0.99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661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Diskontierungsfaktor für zukünftige Rewards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gae_lambda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069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0.95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0690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Generalized Advantage Estimation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clip_range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5720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PPO Clipping — verhindert zu große Policy-Änderungen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ent_coef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749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Entropie-Koeffizient — fördert Erkundung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n_envs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57784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Parallele Trainingsumgebungen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80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total_timesteps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080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500.000+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60807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Gesamte Trainingsschritte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Trainings-Pipeline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Wie läuft ein Training ab?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7432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9B4F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train.py starten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50876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python train.py  →  erstellt automatisch run_1, run_2,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39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Parallele Umgebungen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03911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4× DrivelabEnv starten  →  4 Subprocess-Server (Python 3.13)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56946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2A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946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VecNormalize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569463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Beobachtungen normalisieren  →  stabiles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9981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PPO lernt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099815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Agent wählt Lenkwinkel, Simulation reagiert, Reward berechnet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630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6E3A1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63016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EvalCallback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30168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Alle 10.000 Schritte: bestes Modell speichern (best_model.zip)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9B4FA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CheckpointCallback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160520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Alle 10.000 Schritte: Zwischenstand speichern (checkpoints/)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6908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9E2AF"/>
                </a:solidFill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9087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EvalAndPlotCallback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90871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Nach jedem Update: Fahrt simulieren + 5 Plots speichern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221223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38BA8"/>
                </a:solidFill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21223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</a:rPr>
              <a:t>vecnormalize.pkl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221223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Nach jedem Update gespeichert  →  eval.py immer nutzbar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75157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9B4FA"/>
                </a:solidFill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5157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TensorBoard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5751575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Live-Monitoring in Browser  →  results/&lt;run&gt;/tensorboard/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Ergebnis-Ordnerstruktur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wird wo gespeichert?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554480"/>
            <a:ext cx="6858000" cy="4937760"/>
          </a:xfrm>
          <a:prstGeom prst="rect">
            <a:avLst/>
          </a:prstGeom>
          <a:solidFill>
            <a:srgbClr val="0D0D1A"/>
          </a:solidFill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results/
├── run_1/
│   ├── best_model/
│   │   └── best_model.zip     ← bestes Modell (höchster Eval-Reward)
│   ├── checkpoints/
│   │   └── ppo_drivelab_10000_steps.zip  ← Zwischenstände
│   ├── plots/
│   │   └── update_0001/       ← 5 PNG-Plots pro Update
│   ├── tensorboard/           ← TensorBoard-Logs
│   ├── vecnormalize.pkl       ← Normierungs-Statistiken
│   └── eval_trajectory.csv   ← Trajektorie aus eval.py
├── run_2/  (nächstes Training → eigener Ordner)
└── track.csv                  ← Streckengeometrie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389120" cy="493776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Wichtig: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89B4F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best_model.zip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gespeichertes neuronales Netz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policy_net + value_net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vecnormalize.pkl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Mittelwert + Standardabw.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MUSS zu Modell passen!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Jeder Run ist isoliert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kein Überschreiben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Trainings-Straßen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4 Strecken für robustes Training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65760" y="1645920"/>
            <a:ext cx="11430000" cy="86868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6E3A1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6E3A1"/>
                </a:solidFill>
              </a:rPr>
              <a:t>newRoad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Einfache Kurve nach rechts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73736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9E2AF"/>
                </a:solidFill>
              </a:rPr>
              <a:t>~315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1430000" cy="86868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9B4F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9B4FA"/>
                </a:solidFill>
              </a:rPr>
              <a:t>einfacher_Rundkurs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Ovaler Rundkurs (geschlossen)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7432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9E2AF"/>
                </a:solidFill>
              </a:rPr>
              <a:t>~700 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57600"/>
            <a:ext cx="11430000" cy="86868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749039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E2A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E2AF"/>
                </a:solidFill>
              </a:rPr>
              <a:t>road3_kurvig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S-Kurven (abwechselnd links/rechts ±0.04)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74903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9E2AF"/>
                </a:solidFill>
              </a:rPr>
              <a:t>~675 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86868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457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38BA8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54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38BA8"/>
                </a:solidFill>
              </a:rPr>
              <a:t>road4_komplex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Lange Geraden mit variierenden Kurven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7548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9E2AF"/>
                </a:solidFill>
              </a:rPr>
              <a:t>~666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715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Training: zufällige Strecke pro Episode  |  Eval: Strecke wählbar (1–4) oder interaktives Menü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9E2AF"/>
                </a:solidFill>
              </a:rPr>
              <a:t>Teststrecke road5_test: Geschlossener Kurs mit Chicanes + S-Kurven (~1750 m) — für Generalisierungstest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TensorBoard — Training überwachen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Live-Monitoring im Browser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9B4FA"/>
                </a:solidFill>
              </a:rPr>
              <a:t>Metrik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6E3A1"/>
                </a:solidFill>
              </a:rPr>
              <a:t>Gut wenn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8BA8"/>
                </a:solidFill>
              </a:rPr>
              <a:t>Schlecht wenn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1508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Bedeutung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1143000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ep_rew_mean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842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Steigt → positiv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842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Bleibt negativ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9842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Ø Reward pro Episode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32888"/>
            <a:ext cx="1143000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968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9B4FA"/>
                </a:solidFill>
              </a:rPr>
              <a:t>ep_len_mean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96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Steigt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968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Fällt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5968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Auto bleibt länger auf Straße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45536"/>
            <a:ext cx="1143000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095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value_loss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095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Fällt → 0 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0954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Steigt wieder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20954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KI schätzt Zukunft besser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58184"/>
            <a:ext cx="1143000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221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6E3A1"/>
                </a:solidFill>
              </a:rPr>
              <a:t>explained_variance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822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Steigt → 1.0 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22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Bleibt bei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822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Reward-Vorhersage (0=schlecht)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370832"/>
            <a:ext cx="1143000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approx_kl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Klein ~0.01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434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Über 0.02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Policy ändert sich kontrolliert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983480"/>
            <a:ext cx="1143000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50474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E2AF"/>
                </a:solidFill>
              </a:rPr>
              <a:t>entropy_loss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Fällt langsam 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047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Fällt zu schnell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0474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KI erkundet noch genug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96128"/>
            <a:ext cx="1143000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56601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8BA8"/>
                </a:solidFill>
              </a:rPr>
              <a:t>train/std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660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6E3A1"/>
                </a:solidFill>
              </a:rPr>
              <a:t>Fällt → ~0.3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660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38BA8"/>
                </a:solidFill>
              </a:rPr>
              <a:t>Steigt auf 3+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66013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Policy-Ausgabe stabil/instabil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E2AF"/>
                </a:solidFill>
              </a:rPr>
              <a:t>Starten:  tensorboard --logdir results/    →    Browser: localhost:6006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Evaluation — Modell testen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eval.py und modell_test.py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554480"/>
            <a:ext cx="5486400" cy="274320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eval.py — Bekannte Strecken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89B4F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python eval.py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Interaktives Straßen-Menü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python eval.py run_5/best_model.zip 2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Direkt Straße 2 (Rundkurs)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Zeigt 5 Plots am Ende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Speichert eval_trajectory.csv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1554480"/>
            <a:ext cx="5669280" cy="274320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modell_test.py — Neue Strecke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89B4FA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python modell_test.py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Lädt road5_test.json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NEUE unbekannte Strecke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Testet Generalisierbarkeit: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Hat das Modell wirklich gelernt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oder nur auswendig gelernt?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4389120"/>
            <a:ext cx="11430000" cy="2011680"/>
          </a:xfrm>
          <a:prstGeom prst="rect">
            <a:avLst/>
          </a:prstGeom>
          <a:solidFill>
            <a:srgbClr val="1A2F1A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9B4FA"/>
                </a:solidFill>
              </a:rPr>
              <a:t>  Wichtige Parameter: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model_path  =  results/run_5/best_model/best_model.zip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vecnormalize_path  =  results/run_5/vecnormalize.pkl     ← MUSS zum Modell passen!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road  =  Auswahl 1-4 oder automatisch (None = zufällig)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Plots: Trajektorie, Querversatz, Heading, Randabstände, Geschwindigkeit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Probleme &amp; Lösungen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wurde gefunden und behoben?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" y="1554480"/>
            <a:ext cx="1161288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618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sys.path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184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drivelab.pyd wurde nicht gefunden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6184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str(HERE) statt str(HERE/"drivelab...")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67128"/>
            <a:ext cx="1161288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2311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Obs-Shape Mismatch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3113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5D vecnormalize mit 8D Modell laden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23113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Neu trainieren mit korrekter 8D Obs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79776"/>
            <a:ext cx="1161288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84378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Auto fährt über Ende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84378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Episode lief über Streckenende hinaus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4378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ROAD_LENGTH berechnen + terminieren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92424"/>
            <a:ext cx="1161288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564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vecnormalize fehlt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4564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Training unterbrochen → eval.py crasht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45643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pkl nach JEDEM Update speichern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05072"/>
            <a:ext cx="1161288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069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Straße wird ignoriert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069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road5_test nicht in ROADS-Liste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069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Unbekannte Straße direkt verwenden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17720"/>
            <a:ext cx="1161288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6817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Training instabil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6817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train/std steigt auf 3+ → Policy explodiert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68172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9E2AF"/>
                </a:solidFill>
              </a:rPr>
              <a:t>Weniger Straßen, kleinere learning_rate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230368"/>
            <a:ext cx="11612880" cy="548640"/>
          </a:xfrm>
          <a:prstGeom prst="rect">
            <a:avLst/>
          </a:prstGeom>
          <a:solidFill>
            <a:srgbClr val="31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2943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TensorBoard leer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2943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Relativer Pfad funktioniert nicht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29437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Absoluten Pfad mit --logdir verwenden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843016"/>
            <a:ext cx="11612880" cy="548640"/>
          </a:xfrm>
          <a:prstGeom prst="rect">
            <a:avLst/>
          </a:prstGeom>
          <a:solidFill>
            <a:srgbClr val="28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907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8BA8"/>
                </a:solidFill>
              </a:rPr>
              <a:t>t_end zu klein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9070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config.json t_end=32 statt 320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9070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6E3A1"/>
                </a:solidFill>
              </a:rPr>
              <a:t>Auf 320.0 zurückgesetzt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Ausblick — Nächste Schritte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kommt als nächstes?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65760" y="1645920"/>
            <a:ext cx="5303520" cy="438912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E3A1"/>
                </a:solidFill>
              </a:rPr>
              <a:t>  Kurzfristig: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A6E3A1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Neues Training starten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Nur 1 Straße (newRoad)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learning_rate = 1e-4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ent_coef = 0.005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Modell auf road5_test testen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(Generalisierbarkeit prüfen)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TensorBoard beobachten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ep_rew_mean + ep_len_mean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0" y="1645920"/>
            <a:ext cx="5852160" cy="4389120"/>
          </a:xfrm>
          <a:prstGeom prst="rect">
            <a:avLst/>
          </a:prstGeom>
          <a:solidFill>
            <a:srgbClr val="31324F"/>
          </a:solidFill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9E2AF"/>
                </a:solidFill>
              </a:rPr>
              <a:t>  Bachelorarbeit-Erweiterung:</a:t>
            </a:r>
          </a:p>
          <a:p>
            <a:pPr algn="l">
              <a:spcBef>
                <a:spcPts val="400"/>
              </a:spcBef>
            </a:pPr>
            <a:endParaRPr sz="1800" b="1">
              <a:solidFill>
                <a:srgbClr val="F9E2A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Gas + Bremse als Aktion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3D Action Space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[Lenkwinkel, Gas, Bremse]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Zielgeschwindigkeit als Reward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r -= 0.5 * (v - v_target)²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Vergleich: 1D vs 3D Agent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→ Guter Bachelorarbeit-Inhalt!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Mehr komplexe Teststrecken</a:t>
            </a:r>
          </a:p>
          <a:p>
            <a:pPr algn="l">
              <a:spcBef>
                <a:spcPts val="400"/>
              </a:spcBef>
            </a:pP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89B4FA"/>
                </a:solidFill>
              </a:rP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CCCC"/>
                </a:solidFill>
              </a:rPr>
              <a:t>Was wurde in diesem Projekt erreicht?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1371600"/>
            <a:ext cx="11457432" cy="0"/>
          </a:xfrm>
          <a:prstGeom prst="line">
            <a:avLst/>
          </a:prstGeom>
          <a:ln w="19050">
            <a:solidFill>
              <a:srgbClr val="89B4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PPO-Agent trainiert Spurhalten auf 4 verschiedenen Strecken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Zwei-Prozess-Architektur (Python 3.12 ↔ 3.13) vollständig implementiert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8D Observation Space (e_y, e_psi, curvature, distLeft, distRight, laneWidth, v, psidot)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TensorBoard-Integration für Live-Monitoring des Trainings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Automatische Run-Ordner (run_1, run_2, ...) — kein Überschreiben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vecnormalize.pkl wird nach jedem Update gespeichert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eval.py mit interaktiver Straßenauswahl (1–4)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modell_test.py für unbekannte Teststrecke (Generalisierungstest)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road5_test: ~1750m geschlossener Kurs mit Chicanes &amp; S-Kurven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80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6E3A1"/>
                </a:solidFill>
              </a:rPr>
              <a:t>✓  Episode endet automatisch am Streckenende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b1c9b508-7c6e-42bd-bedf-808292653d6c}" enabled="1" method="Standard" siteId="{2882be50-2012-4d88-ac86-544124e120c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1604</Words>
  <Application>Microsoft Office PowerPoint</Application>
  <PresentationFormat>Benutzerdefiniert</PresentationFormat>
  <Paragraphs>311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Abusaleh, Sulaiman (I/EV-V2)</dc:creator>
  <cp:keywords/>
  <dc:description>generated using python-pptx</dc:description>
  <cp:lastModifiedBy>Abusaleh, Sulaiman (I/EV-V2)</cp:lastModifiedBy>
  <cp:revision>1</cp:revision>
  <dcterms:created xsi:type="dcterms:W3CDTF">2013-01-27T09:14:16Z</dcterms:created>
  <dcterms:modified xsi:type="dcterms:W3CDTF">2026-06-24T09:32:20Z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